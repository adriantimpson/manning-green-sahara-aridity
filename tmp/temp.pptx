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68" r:id="rId13"/>
    <p:sldId id="269" r:id="rId14"/>
    <p:sldId id="271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11" autoAdjust="0"/>
    <p:restoredTop sz="94660"/>
  </p:normalViewPr>
  <p:slideViewPr>
    <p:cSldViewPr snapToGrid="0">
      <p:cViewPr varScale="1">
        <p:scale>
          <a:sx n="54" d="100"/>
          <a:sy n="54" d="100"/>
        </p:scale>
        <p:origin x="70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EC732-3669-21D5-3EB1-04DE66DFA5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F9B366-8EAD-6C9E-1656-AC34BC3925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C9223-EF7C-10E0-ACD7-13070AF4F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560F4-789A-48D0-AC1F-0BABAE5943B7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DADFD-1FD5-DA58-F29C-CFE087B2F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D5775-0372-8872-3E92-2C130F714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E0958-D2C3-4C94-AE70-2FA8E1B65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3137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D5AE4-95F7-6A11-47DA-834517DEB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8E929-6C3C-D7F7-10A7-C09AF6474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68985-DFF6-D030-1791-A3B17DDB2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560F4-789A-48D0-AC1F-0BABAE5943B7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E851E-E845-B665-9CF9-812BD4DEA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F633F-E9BE-87DF-1817-6775A2A6A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E0958-D2C3-4C94-AE70-2FA8E1B65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8235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31544-41C1-D6A7-672D-FB38A4CCD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86313-32D3-46E2-897C-9C77948AF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70AE4-7FA4-695A-9E5E-CB551AC64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560F4-789A-48D0-AC1F-0BABAE5943B7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A9BD6-64C5-B1FA-39D6-072518F0A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E1F5C-48C0-319B-A862-4C28CD65A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E0958-D2C3-4C94-AE70-2FA8E1B65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640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592C3-88C3-D8CD-8359-60DAF1A2A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384DB-4BE9-B1F1-2C39-51835C8F06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C1505-800B-F263-773B-C38B2247C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B4200-6A38-58A4-1FA7-D4624BE1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560F4-789A-48D0-AC1F-0BABAE5943B7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8ACB0-0F55-0AA7-6E56-DEF443143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5F001E-2CB6-A10F-93D9-E2E94B8C8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E0958-D2C3-4C94-AE70-2FA8E1B65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5971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E13EC-986D-2AE7-D6AA-AE7D811E8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25897-BBAE-F22A-936B-B1870A57E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A5825-3FF8-4896-9822-B20CAD3B6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DF529A-596E-1F0C-6002-73EDEA2E1B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F05F94-C546-E7C6-B5C7-83EDF06A8D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DC7250-88E9-0C47-66DD-0065C2226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560F4-789A-48D0-AC1F-0BABAE5943B7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C94000-A2DC-FB96-FD9B-CBBF54D40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15293C-909E-B16C-64F1-64B914C6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E0958-D2C3-4C94-AE70-2FA8E1B65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306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E67C-B0B7-D7F0-7269-BEAA926F8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7AE369-9EEE-F7D1-3D0F-A61182F1E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560F4-789A-48D0-AC1F-0BABAE5943B7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83BCBE-B44F-BB14-AD22-8CAF3128A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8542B-D7A8-F014-4C64-CC9540D51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E0958-D2C3-4C94-AE70-2FA8E1B65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7498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CEAA4A-B9EA-43B1-E803-A87C4F1F5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560F4-789A-48D0-AC1F-0BABAE5943B7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12145-D628-AE52-6658-3EFD054AA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2B5D9-E385-E2C7-87B5-6AB3619C1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E0958-D2C3-4C94-AE70-2FA8E1B65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6941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C98AD-B4B6-1F14-BB54-99A3F8479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A2A24-5D4D-473E-C96C-47B5E6FCE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3CDBD-B558-C286-D300-838F6645D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3B32C-0E83-5232-C7FF-DE5C4B24A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560F4-789A-48D0-AC1F-0BABAE5943B7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47203-84EF-A01E-AF48-EE375243C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2D07D7-56FC-58E4-F628-9B88B6DD3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E0958-D2C3-4C94-AE70-2FA8E1B65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183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D9B3D-AB85-4B97-1F53-3BF1DD8FD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1216A8-45FA-55D1-1865-CEFA7C7F46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B379D9-6C8E-2AF0-8CF0-B93D5E1A3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C6EDF2-A4DC-8A45-F897-5CE5F27DF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560F4-789A-48D0-AC1F-0BABAE5943B7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3D281-ECA2-F545-7A2F-E120F500F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5ECA9-BE39-1D3F-DBC2-9018E747E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E0958-D2C3-4C94-AE70-2FA8E1B65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73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6B0D7-D441-E66B-CDEC-9909D3D2E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9483DD-8F45-5F04-1AEB-6E044797C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3E147-587A-6258-03E7-D3B4E1295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560F4-789A-48D0-AC1F-0BABAE5943B7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E0930-9DBC-22BA-B79B-D91E7D575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DB7CF-067F-9820-5164-B5FEC3049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E0958-D2C3-4C94-AE70-2FA8E1B65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1455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0D5DED-C76F-1CEF-AB6F-8D18BC9F2F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620CD-EE27-4C07-AF8A-3CEAA14E9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529B0-503C-54A2-C702-D8F27EB6A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560F4-789A-48D0-AC1F-0BABAE5943B7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6BE3C-ED3A-4B52-987D-0581539CA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70308-D0A0-A49B-C991-7BFC16A4C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E0958-D2C3-4C94-AE70-2FA8E1B65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4464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99DBA0-BB9D-06F5-A013-CF45AB22B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1748-3765-24DA-F7E1-DA7B320FF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ACC70-D064-02E5-E056-5FBF02A8F5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2560F4-789A-48D0-AC1F-0BABAE5943B7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6F768-22BD-DB26-2731-192B2107BD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DF86E-B341-E8D7-DF32-6B5A10F36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0E0958-D2C3-4C94-AE70-2FA8E1B65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309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817D73-A132-987D-4465-C63F9A1ACD58}"/>
              </a:ext>
            </a:extLst>
          </p:cNvPr>
          <p:cNvSpPr txBox="1"/>
          <p:nvPr/>
        </p:nvSpPr>
        <p:spPr>
          <a:xfrm>
            <a:off x="1729212" y="2372009"/>
            <a:ext cx="8428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Method for choosing catchment size (level), and time bin width</a:t>
            </a:r>
          </a:p>
        </p:txBody>
      </p:sp>
    </p:spTree>
    <p:extLst>
      <p:ext uri="{BB962C8B-B14F-4D97-AF65-F5344CB8AC3E}">
        <p14:creationId xmlns:p14="http://schemas.microsoft.com/office/powerpoint/2010/main" val="1195266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3CFC8-F1FA-9595-0742-4B61B8468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6C0806-FEA7-164C-C0C9-A447B1ED4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95" y="1013988"/>
            <a:ext cx="7781925" cy="5410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7B70BD-3783-7816-66A4-273CBB59D757}"/>
              </a:ext>
            </a:extLst>
          </p:cNvPr>
          <p:cNvSpPr txBox="1"/>
          <p:nvPr/>
        </p:nvSpPr>
        <p:spPr>
          <a:xfrm>
            <a:off x="8383509" y="1167897"/>
            <a:ext cx="33859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Randomly separate all unique sites into two (approximately) equal subsets.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F2427A-D496-74B9-F929-ED6498F632EA}"/>
              </a:ext>
            </a:extLst>
          </p:cNvPr>
          <p:cNvSpPr txBox="1"/>
          <p:nvPr/>
        </p:nvSpPr>
        <p:spPr>
          <a:xfrm>
            <a:off x="8300000" y="3172118"/>
            <a:ext cx="35600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 a particular catchment level, count how many catchments have both red and black dots (match)</a:t>
            </a:r>
          </a:p>
          <a:p>
            <a:r>
              <a:rPr lang="en-GB" dirty="0"/>
              <a:t>And how many catchments have only red or black (mismatch)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4671F7-1B0E-BC1A-C4CE-7DEB254A1297}"/>
              </a:ext>
            </a:extLst>
          </p:cNvPr>
          <p:cNvSpPr txBox="1"/>
          <p:nvPr/>
        </p:nvSpPr>
        <p:spPr>
          <a:xfrm>
            <a:off x="3739080" y="249146"/>
            <a:ext cx="2163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Catchment size</a:t>
            </a:r>
          </a:p>
        </p:txBody>
      </p:sp>
    </p:spTree>
    <p:extLst>
      <p:ext uri="{BB962C8B-B14F-4D97-AF65-F5344CB8AC3E}">
        <p14:creationId xmlns:p14="http://schemas.microsoft.com/office/powerpoint/2010/main" val="2396174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98B72-BE53-D879-EF4D-076192493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3E830E-127D-42B2-1DA7-EE5635DBED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85" t="19418" r="5299" b="21175"/>
          <a:stretch>
            <a:fillRect/>
          </a:stretch>
        </p:blipFill>
        <p:spPr>
          <a:xfrm>
            <a:off x="-1" y="15995"/>
            <a:ext cx="6111607" cy="30259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6730CF-C0AD-6111-E1AE-5F0C5D81ABBC}"/>
              </a:ext>
            </a:extLst>
          </p:cNvPr>
          <p:cNvSpPr txBox="1"/>
          <p:nvPr/>
        </p:nvSpPr>
        <p:spPr>
          <a:xfrm>
            <a:off x="6727714" y="1623977"/>
            <a:ext cx="4254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Level 3: </a:t>
            </a:r>
          </a:p>
          <a:p>
            <a:r>
              <a:rPr lang="en-GB" dirty="0"/>
              <a:t>12 match, 2 mismatch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347A8-9BAD-BA61-8F6D-2AD3BAEF33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84" t="16854" r="1917" b="18770"/>
          <a:stretch>
            <a:fillRect/>
          </a:stretch>
        </p:blipFill>
        <p:spPr>
          <a:xfrm>
            <a:off x="0" y="3041963"/>
            <a:ext cx="6304359" cy="32320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6274E1-8042-56D8-2713-C4D55D97DD04}"/>
              </a:ext>
            </a:extLst>
          </p:cNvPr>
          <p:cNvSpPr txBox="1"/>
          <p:nvPr/>
        </p:nvSpPr>
        <p:spPr>
          <a:xfrm>
            <a:off x="6741813" y="4383775"/>
            <a:ext cx="4254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Level 6: </a:t>
            </a:r>
          </a:p>
          <a:p>
            <a:r>
              <a:rPr lang="en-GB" dirty="0"/>
              <a:t>50 match, 139 mismatch</a:t>
            </a:r>
          </a:p>
        </p:txBody>
      </p:sp>
    </p:spTree>
    <p:extLst>
      <p:ext uri="{BB962C8B-B14F-4D97-AF65-F5344CB8AC3E}">
        <p14:creationId xmlns:p14="http://schemas.microsoft.com/office/powerpoint/2010/main" val="2437598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ECBA8-10EA-1BD5-DBA9-CE8B1E898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42DB46-2B03-87DF-55C6-EBBFE14BE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256351"/>
              </p:ext>
            </p:extLst>
          </p:nvPr>
        </p:nvGraphicFramePr>
        <p:xfrm>
          <a:off x="1678915" y="3429000"/>
          <a:ext cx="8128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814262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6156775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3423267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26631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matches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mismatches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088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588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84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434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548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699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19719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2E70AAE-7482-9E07-0518-7689F7449697}"/>
              </a:ext>
            </a:extLst>
          </p:cNvPr>
          <p:cNvSpPr txBox="1"/>
          <p:nvPr/>
        </p:nvSpPr>
        <p:spPr>
          <a:xfrm>
            <a:off x="3690795" y="1486666"/>
            <a:ext cx="4254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Level 4 shows best congruence</a:t>
            </a:r>
          </a:p>
        </p:txBody>
      </p:sp>
    </p:spTree>
    <p:extLst>
      <p:ext uri="{BB962C8B-B14F-4D97-AF65-F5344CB8AC3E}">
        <p14:creationId xmlns:p14="http://schemas.microsoft.com/office/powerpoint/2010/main" val="1370560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7EA4C-61A6-612C-2D00-6BAA0BC0E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009455D-9897-9979-7035-A0B8D11B6B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636211"/>
              </p:ext>
            </p:extLst>
          </p:nvPr>
        </p:nvGraphicFramePr>
        <p:xfrm>
          <a:off x="1552166" y="1634066"/>
          <a:ext cx="8128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87360052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8142622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6156775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342326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26631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088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588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84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434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548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699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19719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A1B50D7-FC2D-A7C8-F550-822CF4B74436}"/>
              </a:ext>
            </a:extLst>
          </p:cNvPr>
          <p:cNvSpPr txBox="1"/>
          <p:nvPr/>
        </p:nvSpPr>
        <p:spPr>
          <a:xfrm>
            <a:off x="3968930" y="517946"/>
            <a:ext cx="4254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Random CV split data again…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77C529-E5E4-AD98-A7D5-0FFB60679812}"/>
              </a:ext>
            </a:extLst>
          </p:cNvPr>
          <p:cNvSpPr txBox="1"/>
          <p:nvPr/>
        </p:nvSpPr>
        <p:spPr>
          <a:xfrm>
            <a:off x="4276748" y="4900768"/>
            <a:ext cx="6632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Clearly level 4 always wins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9911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5439C-6766-3E0E-7C42-6DD6B0852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3A237C-25CE-FECD-DC6B-C931C5F8BF9B}"/>
              </a:ext>
            </a:extLst>
          </p:cNvPr>
          <p:cNvSpPr txBox="1"/>
          <p:nvPr/>
        </p:nvSpPr>
        <p:spPr>
          <a:xfrm>
            <a:off x="5209255" y="1106423"/>
            <a:ext cx="1119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Level 4</a:t>
            </a:r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E72EE9-E965-B559-E418-876042536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724" y="1618590"/>
            <a:ext cx="10401300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351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2BD0B-04C7-1719-D7D0-C149FE154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949241-2EDF-8773-8E6E-636E7E608AD9}"/>
              </a:ext>
            </a:extLst>
          </p:cNvPr>
          <p:cNvSpPr txBox="1"/>
          <p:nvPr/>
        </p:nvSpPr>
        <p:spPr>
          <a:xfrm>
            <a:off x="2547536" y="1269384"/>
            <a:ext cx="66326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Similar CV approach:</a:t>
            </a:r>
          </a:p>
          <a:p>
            <a:r>
              <a:rPr lang="en-GB" dirty="0"/>
              <a:t>Assign data to catchments and time bins</a:t>
            </a:r>
          </a:p>
          <a:p>
            <a:r>
              <a:rPr lang="en-GB" dirty="0"/>
              <a:t>How many catchment-time bins have data from both CV sets?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EEEEE0-BC42-B155-B270-4E1036EA59D8}"/>
              </a:ext>
            </a:extLst>
          </p:cNvPr>
          <p:cNvSpPr txBox="1"/>
          <p:nvPr/>
        </p:nvSpPr>
        <p:spPr>
          <a:xfrm>
            <a:off x="2800537" y="364626"/>
            <a:ext cx="563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Time bin width (given best catchments are level 4) </a:t>
            </a:r>
          </a:p>
        </p:txBody>
      </p:sp>
    </p:spTree>
    <p:extLst>
      <p:ext uri="{BB962C8B-B14F-4D97-AF65-F5344CB8AC3E}">
        <p14:creationId xmlns:p14="http://schemas.microsoft.com/office/powerpoint/2010/main" val="3064125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A8BD4-A97E-AA7E-AC7B-200B5D76D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C44F19-2F6A-A327-ABC0-CB962590CAD9}"/>
              </a:ext>
            </a:extLst>
          </p:cNvPr>
          <p:cNvSpPr txBox="1"/>
          <p:nvPr/>
        </p:nvSpPr>
        <p:spPr>
          <a:xfrm>
            <a:off x="2547536" y="1269384"/>
            <a:ext cx="66326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Similar CV approach:</a:t>
            </a:r>
          </a:p>
          <a:p>
            <a:r>
              <a:rPr lang="en-GB" dirty="0"/>
              <a:t>Assign data to catchments and time bins</a:t>
            </a:r>
          </a:p>
          <a:p>
            <a:r>
              <a:rPr lang="en-GB" dirty="0"/>
              <a:t>How many catchment-time bins have data from both CV sets?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AF232D-ECC9-3E06-A353-F66F1465C6FD}"/>
              </a:ext>
            </a:extLst>
          </p:cNvPr>
          <p:cNvSpPr txBox="1"/>
          <p:nvPr/>
        </p:nvSpPr>
        <p:spPr>
          <a:xfrm>
            <a:off x="2800537" y="364626"/>
            <a:ext cx="563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Time bin width (given best catchments are level 4)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41DD51-20BA-A8E8-2D67-0FD983D14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548" y="2114550"/>
            <a:ext cx="10401300" cy="47434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675B68-E475-D058-7EDD-384A75733E2A}"/>
              </a:ext>
            </a:extLst>
          </p:cNvPr>
          <p:cNvSpPr txBox="1"/>
          <p:nvPr/>
        </p:nvSpPr>
        <p:spPr>
          <a:xfrm>
            <a:off x="2735654" y="2469713"/>
            <a:ext cx="563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500 yr time bins win, for analytical purposes.</a:t>
            </a:r>
          </a:p>
        </p:txBody>
      </p:sp>
    </p:spTree>
    <p:extLst>
      <p:ext uri="{BB962C8B-B14F-4D97-AF65-F5344CB8AC3E}">
        <p14:creationId xmlns:p14="http://schemas.microsoft.com/office/powerpoint/2010/main" val="4026792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EAF072-A900-0A5A-5C8C-5F424681F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4650"/>
            <a:ext cx="12192000" cy="610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47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F1D5E-C147-6C4B-B26B-518F3B43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6944C0-34E8-5257-3D41-E450854A5171}"/>
              </a:ext>
            </a:extLst>
          </p:cNvPr>
          <p:cNvSpPr txBox="1"/>
          <p:nvPr/>
        </p:nvSpPr>
        <p:spPr>
          <a:xfrm>
            <a:off x="2453489" y="1964603"/>
            <a:ext cx="6726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Is it justified to aggregate data longitudinally?</a:t>
            </a:r>
          </a:p>
        </p:txBody>
      </p:sp>
    </p:spTree>
    <p:extLst>
      <p:ext uri="{BB962C8B-B14F-4D97-AF65-F5344CB8AC3E}">
        <p14:creationId xmlns:p14="http://schemas.microsoft.com/office/powerpoint/2010/main" val="3485667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56F42-DA6C-2B02-08EB-358BC473A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82A4F7-74AD-6A24-9C66-53F679D49F28}"/>
              </a:ext>
            </a:extLst>
          </p:cNvPr>
          <p:cNvSpPr txBox="1"/>
          <p:nvPr/>
        </p:nvSpPr>
        <p:spPr>
          <a:xfrm>
            <a:off x="1032096" y="443620"/>
            <a:ext cx="9433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Formal model comparison using BIC (Bayesian Information Criterion)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DFC288-A09A-EE8D-2E7E-9017A11A2E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44" t="15432" r="5926" b="18970"/>
          <a:stretch>
            <a:fillRect/>
          </a:stretch>
        </p:blipFill>
        <p:spPr>
          <a:xfrm>
            <a:off x="3320959" y="1593410"/>
            <a:ext cx="7235381" cy="398352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51D63D6-7FA4-649A-084B-41EECF33B06B}"/>
              </a:ext>
            </a:extLst>
          </p:cNvPr>
          <p:cNvCxnSpPr/>
          <p:nvPr/>
        </p:nvCxnSpPr>
        <p:spPr>
          <a:xfrm flipV="1">
            <a:off x="3320959" y="2661719"/>
            <a:ext cx="5641972" cy="416459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D82937-DC19-B2FC-3275-342779CAA62E}"/>
              </a:ext>
            </a:extLst>
          </p:cNvPr>
          <p:cNvCxnSpPr>
            <a:cxnSpLocks/>
          </p:cNvCxnSpPr>
          <p:nvPr/>
        </p:nvCxnSpPr>
        <p:spPr>
          <a:xfrm>
            <a:off x="3320959" y="4948542"/>
            <a:ext cx="5641972" cy="316048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rrow: Down 8">
            <a:extLst>
              <a:ext uri="{FF2B5EF4-FFF2-40B4-BE49-F238E27FC236}">
                <a16:creationId xmlns:a16="http://schemas.microsoft.com/office/drawing/2014/main" id="{67972BB3-9B69-49D8-CDAE-9985B63F5729}"/>
              </a:ext>
            </a:extLst>
          </p:cNvPr>
          <p:cNvSpPr/>
          <p:nvPr/>
        </p:nvSpPr>
        <p:spPr>
          <a:xfrm rot="21120713">
            <a:off x="5874040" y="3089636"/>
            <a:ext cx="193964" cy="416459"/>
          </a:xfrm>
          <a:prstGeom prst="down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D919832E-3F6B-C1BB-614F-C00857BF7EF9}"/>
              </a:ext>
            </a:extLst>
          </p:cNvPr>
          <p:cNvSpPr/>
          <p:nvPr/>
        </p:nvSpPr>
        <p:spPr>
          <a:xfrm rot="10991038">
            <a:off x="6044963" y="4527017"/>
            <a:ext cx="193964" cy="416459"/>
          </a:xfrm>
          <a:prstGeom prst="downArrow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00C2D31-61EE-F898-6641-9CE9778BC258}"/>
              </a:ext>
            </a:extLst>
          </p:cNvPr>
          <p:cNvSpPr/>
          <p:nvPr/>
        </p:nvSpPr>
        <p:spPr>
          <a:xfrm rot="14456989">
            <a:off x="2844800" y="2865948"/>
            <a:ext cx="701964" cy="604572"/>
          </a:xfrm>
          <a:custGeom>
            <a:avLst/>
            <a:gdLst>
              <a:gd name="csX0" fmla="*/ 0 w 701964"/>
              <a:gd name="csY0" fmla="*/ 253590 h 604572"/>
              <a:gd name="csX1" fmla="*/ 166255 w 701964"/>
              <a:gd name="csY1" fmla="*/ 244353 h 604572"/>
              <a:gd name="csX2" fmla="*/ 628073 w 701964"/>
              <a:gd name="csY2" fmla="*/ 4208 h 604572"/>
              <a:gd name="csX3" fmla="*/ 646546 w 701964"/>
              <a:gd name="csY3" fmla="*/ 475262 h 604572"/>
              <a:gd name="csX4" fmla="*/ 701964 w 701964"/>
              <a:gd name="csY4" fmla="*/ 604572 h 6045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01964" h="604572">
                <a:moveTo>
                  <a:pt x="0" y="253590"/>
                </a:moveTo>
                <a:cubicBezTo>
                  <a:pt x="30788" y="269753"/>
                  <a:pt x="61576" y="285917"/>
                  <a:pt x="166255" y="244353"/>
                </a:cubicBezTo>
                <a:cubicBezTo>
                  <a:pt x="270934" y="202789"/>
                  <a:pt x="548025" y="-34277"/>
                  <a:pt x="628073" y="4208"/>
                </a:cubicBezTo>
                <a:cubicBezTo>
                  <a:pt x="708121" y="42693"/>
                  <a:pt x="634231" y="375201"/>
                  <a:pt x="646546" y="475262"/>
                </a:cubicBezTo>
                <a:cubicBezTo>
                  <a:pt x="658861" y="575323"/>
                  <a:pt x="680412" y="589947"/>
                  <a:pt x="701964" y="604572"/>
                </a:cubicBezTo>
              </a:path>
            </a:pathLst>
          </a:cu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C4F13FD-ECBF-B4C1-22A8-F3EDCAD4817E}"/>
              </a:ext>
            </a:extLst>
          </p:cNvPr>
          <p:cNvSpPr/>
          <p:nvPr/>
        </p:nvSpPr>
        <p:spPr>
          <a:xfrm rot="14685751">
            <a:off x="2844799" y="4673273"/>
            <a:ext cx="701964" cy="604572"/>
          </a:xfrm>
          <a:custGeom>
            <a:avLst/>
            <a:gdLst>
              <a:gd name="csX0" fmla="*/ 0 w 701964"/>
              <a:gd name="csY0" fmla="*/ 253590 h 604572"/>
              <a:gd name="csX1" fmla="*/ 166255 w 701964"/>
              <a:gd name="csY1" fmla="*/ 244353 h 604572"/>
              <a:gd name="csX2" fmla="*/ 628073 w 701964"/>
              <a:gd name="csY2" fmla="*/ 4208 h 604572"/>
              <a:gd name="csX3" fmla="*/ 646546 w 701964"/>
              <a:gd name="csY3" fmla="*/ 475262 h 604572"/>
              <a:gd name="csX4" fmla="*/ 701964 w 701964"/>
              <a:gd name="csY4" fmla="*/ 604572 h 6045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01964" h="604572">
                <a:moveTo>
                  <a:pt x="0" y="253590"/>
                </a:moveTo>
                <a:cubicBezTo>
                  <a:pt x="30788" y="269753"/>
                  <a:pt x="61576" y="285917"/>
                  <a:pt x="166255" y="244353"/>
                </a:cubicBezTo>
                <a:cubicBezTo>
                  <a:pt x="270934" y="202789"/>
                  <a:pt x="548025" y="-34277"/>
                  <a:pt x="628073" y="4208"/>
                </a:cubicBezTo>
                <a:cubicBezTo>
                  <a:pt x="708121" y="42693"/>
                  <a:pt x="634231" y="375201"/>
                  <a:pt x="646546" y="475262"/>
                </a:cubicBezTo>
                <a:cubicBezTo>
                  <a:pt x="658861" y="575323"/>
                  <a:pt x="680412" y="589947"/>
                  <a:pt x="701964" y="604572"/>
                </a:cubicBezTo>
              </a:path>
            </a:pathLst>
          </a:cu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598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C94F1-81F1-5DAA-CC91-58D2D9CAF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4193F51-B6CC-5D7F-C37A-BE3D5FD7BF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126388"/>
              </p:ext>
            </p:extLst>
          </p:nvPr>
        </p:nvGraphicFramePr>
        <p:xfrm>
          <a:off x="0" y="314036"/>
          <a:ext cx="12192000" cy="5922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33630360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42197536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56689412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58519314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33994392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02089422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97682708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72463696"/>
                    </a:ext>
                  </a:extLst>
                </a:gridCol>
                <a:gridCol w="783215">
                  <a:extLst>
                    <a:ext uri="{9D8B030D-6E8A-4147-A177-3AD203B41FA5}">
                      <a16:colId xmlns:a16="http://schemas.microsoft.com/office/drawing/2014/main" val="2833466421"/>
                    </a:ext>
                  </a:extLst>
                </a:gridCol>
                <a:gridCol w="958501">
                  <a:extLst>
                    <a:ext uri="{9D8B030D-6E8A-4147-A177-3AD203B41FA5}">
                      <a16:colId xmlns:a16="http://schemas.microsoft.com/office/drawing/2014/main" val="142984344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23957346"/>
                    </a:ext>
                  </a:extLst>
                </a:gridCol>
                <a:gridCol w="682171">
                  <a:extLst>
                    <a:ext uri="{9D8B030D-6E8A-4147-A177-3AD203B41FA5}">
                      <a16:colId xmlns:a16="http://schemas.microsoft.com/office/drawing/2014/main" val="3494134007"/>
                    </a:ext>
                  </a:extLst>
                </a:gridCol>
                <a:gridCol w="1059543">
                  <a:extLst>
                    <a:ext uri="{9D8B030D-6E8A-4147-A177-3AD203B41FA5}">
                      <a16:colId xmlns:a16="http://schemas.microsoft.com/office/drawing/2014/main" val="373527607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832885339"/>
                    </a:ext>
                  </a:extLst>
                </a:gridCol>
              </a:tblGrid>
              <a:tr h="64942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Model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Top rain Gaussian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Bottom rain gaussian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 pars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Log likelihood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BIC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0801636"/>
                  </a:ext>
                </a:extLst>
              </a:tr>
              <a:tr h="1220807">
                <a:tc>
                  <a:txBody>
                    <a:bodyPr/>
                    <a:lstStyle/>
                    <a:p>
                      <a:pPr algn="ctr"/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Angle (degrees from horizontal)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Gaussian SD (degrees)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Start latitude (</a:t>
                      </a:r>
                      <a:r>
                        <a:rPr lang="en-GB" sz="1100" dirty="0" err="1"/>
                        <a:t>deg</a:t>
                      </a:r>
                      <a:r>
                        <a:rPr lang="en-GB" sz="1100" dirty="0"/>
                        <a:t> at GM at 14kyBP)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/>
                        <a:t>Spread rate (degrees per century)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Angle (degrees from horizontal)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Gaussian SD (degrees)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Start latitude (</a:t>
                      </a:r>
                      <a:r>
                        <a:rPr lang="en-GB" sz="1100" dirty="0" err="1"/>
                        <a:t>deg</a:t>
                      </a:r>
                      <a:r>
                        <a:rPr lang="en-GB" sz="1100" dirty="0"/>
                        <a:t> at GM at 14kyBP)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/>
                        <a:t>Spread rate (degrees per century)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Bottom proportion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Reverse date (BP)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7408877"/>
                  </a:ext>
                </a:extLst>
              </a:tr>
              <a:tr h="506503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</a:rPr>
                        <a:t>none</a:t>
                      </a:r>
                    </a:p>
                    <a:p>
                      <a:pPr algn="ctr"/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</a:rPr>
                        <a:t>none</a:t>
                      </a:r>
                    </a:p>
                    <a:p>
                      <a:pPr algn="ctr"/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</a:rPr>
                        <a:t>none</a:t>
                      </a:r>
                    </a:p>
                    <a:p>
                      <a:pPr algn="ctr"/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</a:rPr>
                        <a:t>none</a:t>
                      </a:r>
                    </a:p>
                    <a:p>
                      <a:pPr algn="ctr"/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  <a:p>
                      <a:pPr algn="ctr"/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4.70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16.68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0.068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</a:rPr>
                        <a:t>none</a:t>
                      </a:r>
                    </a:p>
                    <a:p>
                      <a:pPr algn="ctr"/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7021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-3351.099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6758.437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8592837"/>
                  </a:ext>
                </a:extLst>
              </a:tr>
              <a:tr h="506503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</a:rPr>
                        <a:t>none</a:t>
                      </a:r>
                    </a:p>
                    <a:p>
                      <a:pPr algn="ctr"/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</a:rPr>
                        <a:t>none</a:t>
                      </a:r>
                    </a:p>
                    <a:p>
                      <a:pPr algn="ctr"/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</a:rPr>
                        <a:t>none</a:t>
                      </a:r>
                    </a:p>
                    <a:p>
                      <a:pPr algn="ctr"/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</a:rPr>
                        <a:t>none</a:t>
                      </a:r>
                    </a:p>
                    <a:p>
                      <a:pPr algn="ctr"/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1.60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4.68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17.02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0.070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</a:rPr>
                        <a:t>none</a:t>
                      </a:r>
                    </a:p>
                    <a:p>
                      <a:pPr algn="ctr"/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7247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-3347.739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6765.778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3066922"/>
                  </a:ext>
                </a:extLst>
              </a:tr>
              <a:tr h="506503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3.28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31.55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0.055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  <a:p>
                      <a:pPr algn="ctr"/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</a:rPr>
                        <a:t>same</a:t>
                      </a:r>
                    </a:p>
                    <a:p>
                      <a:pPr algn="ctr"/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16.49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</a:rPr>
                        <a:t>same</a:t>
                      </a:r>
                    </a:p>
                    <a:p>
                      <a:pPr algn="ctr"/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7910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-3262.400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 dirty="0">
                          <a:solidFill>
                            <a:srgbClr val="FF0000"/>
                          </a:solidFill>
                        </a:rPr>
                        <a:t>6609.159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9575356"/>
                  </a:ext>
                </a:extLst>
              </a:tr>
              <a:tr h="506503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3.28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31.55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0.055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  <a:p>
                      <a:pPr algn="ctr"/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</a:rPr>
                        <a:t>same</a:t>
                      </a:r>
                    </a:p>
                    <a:p>
                      <a:pPr algn="ctr"/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16.49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</a:rPr>
                        <a:t>same</a:t>
                      </a:r>
                    </a:p>
                    <a:p>
                      <a:pPr algn="ctr"/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7910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-3262.400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0" dirty="0"/>
                        <a:t>6623.219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193222"/>
                  </a:ext>
                </a:extLst>
              </a:tr>
              <a:tr h="506503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3.28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31.68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0.054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-0.34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</a:rPr>
                        <a:t>same</a:t>
                      </a:r>
                    </a:p>
                    <a:p>
                      <a:pPr algn="ctr"/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16.38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</a:rPr>
                        <a:t>same</a:t>
                      </a:r>
                    </a:p>
                    <a:p>
                      <a:pPr algn="ctr"/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7788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-3262.140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6636.759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0481769"/>
                  </a:ext>
                </a:extLst>
              </a:tr>
              <a:tr h="506503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9a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-33.23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31.90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0.054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-0.81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3.58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16.59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</a:rPr>
                        <a:t>same</a:t>
                      </a:r>
                    </a:p>
                    <a:p>
                      <a:pPr algn="ctr"/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0.91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7744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-3244.022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6614.584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607619"/>
                  </a:ext>
                </a:extLst>
              </a:tr>
              <a:tr h="506503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9b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3.23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27.75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0.033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-0.04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rgbClr val="00B050"/>
                          </a:solidFill>
                        </a:rPr>
                        <a:t>same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15.98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0.067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0.87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8004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-3257.290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6641.119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5618144"/>
                  </a:ext>
                </a:extLst>
              </a:tr>
              <a:tr h="506503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-33.63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29.66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0.013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-0.76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3.58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16.14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0.063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0.91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7645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-3240.952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6622.503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1788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7508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133B2-9752-3224-662F-395EF2E9A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654BF7-E33D-27BA-D2B9-FCD0E90B9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69" y="320460"/>
            <a:ext cx="10516569" cy="653753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BF54BC8-5AE0-285F-2B1B-1B131AABB9A7}"/>
              </a:ext>
            </a:extLst>
          </p:cNvPr>
          <p:cNvSpPr txBox="1"/>
          <p:nvPr/>
        </p:nvSpPr>
        <p:spPr>
          <a:xfrm>
            <a:off x="3259249" y="90534"/>
            <a:ext cx="4499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Model 6 (best) </a:t>
            </a:r>
          </a:p>
        </p:txBody>
      </p:sp>
    </p:spTree>
    <p:extLst>
      <p:ext uri="{BB962C8B-B14F-4D97-AF65-F5344CB8AC3E}">
        <p14:creationId xmlns:p14="http://schemas.microsoft.com/office/powerpoint/2010/main" val="2099723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5BEA6-2A5D-228B-953C-8FD731C28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B70117-F506-9E04-9005-A412719E9421}"/>
              </a:ext>
            </a:extLst>
          </p:cNvPr>
          <p:cNvSpPr txBox="1"/>
          <p:nvPr/>
        </p:nvSpPr>
        <p:spPr>
          <a:xfrm>
            <a:off x="3259249" y="90534"/>
            <a:ext cx="4499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Model 10 (overfit)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599581-115A-F5AD-3154-156BF6187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923" y="585723"/>
            <a:ext cx="8987214" cy="626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339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4260F-49A9-9F8B-C837-81C02ED9B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461FA0-E50B-61E8-9431-13A0CA084F27}"/>
              </a:ext>
            </a:extLst>
          </p:cNvPr>
          <p:cNvSpPr txBox="1"/>
          <p:nvPr/>
        </p:nvSpPr>
        <p:spPr>
          <a:xfrm>
            <a:off x="3259249" y="90534"/>
            <a:ext cx="4499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Model 6 (best)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BF7CE0-6105-D048-8C42-4DBACAEC3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" y="657225"/>
            <a:ext cx="11325225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793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473</Words>
  <Application>Microsoft Office PowerPoint</Application>
  <PresentationFormat>Widescreen</PresentationFormat>
  <Paragraphs>218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Timpson, Adrian</dc:creator>
  <cp:lastModifiedBy>Timpson, Adrian</cp:lastModifiedBy>
  <cp:revision>29</cp:revision>
  <dcterms:created xsi:type="dcterms:W3CDTF">2026-02-27T09:55:49Z</dcterms:created>
  <dcterms:modified xsi:type="dcterms:W3CDTF">2026-04-08T15:23:33Z</dcterms:modified>
</cp:coreProperties>
</file>